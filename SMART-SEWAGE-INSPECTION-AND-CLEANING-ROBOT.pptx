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Heebo" pitchFamily="2" charset="-79"/>
      <p:regular r:id="rId11"/>
    </p:embeddedFont>
    <p:embeddedFont>
      <p:font typeface="Heebo Bold" pitchFamily="2" charset="-79"/>
      <p:regular r:id="rId12"/>
      <p:bold r:id="rId13"/>
    </p:embeddedFont>
    <p:embeddedFont>
      <p:font typeface="Heebo Light" panose="020F0502020204030204" pitchFamily="34" charset="0"/>
      <p:regular r:id="rId14"/>
    </p:embeddedFont>
    <p:embeddedFont>
      <p:font typeface="Heebo Medium" pitchFamily="2" charset="-79"/>
      <p:regular r:id="rId15"/>
    </p:embeddedFont>
    <p:embeddedFont>
      <p:font typeface="Heebo SemiBold" pitchFamily="2" charset="-79"/>
      <p:regular r:id="rId16"/>
      <p:bold r:id="rId17"/>
    </p:embeddedFont>
    <p:embeddedFont>
      <p:font typeface="Montserrat Medium" panose="00000600000000000000" pitchFamily="2" charset="77"/>
      <p:regular r:id="rId18"/>
    </p:embeddedFont>
    <p:embeddedFont>
      <p:font typeface="Montserrat SemiBold" panose="00000700000000000000" pitchFamily="2" charset="77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48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564402"/>
            <a:ext cx="619744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ARDUINO-BASED AUTOMATION &amp; MULTI-SENSOR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868182"/>
            <a:ext cx="5638659" cy="1534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800" kern="100" spc="-9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SMART SEWAGE INSPECTION AND CLEANING ROBOT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11182" y="3705126"/>
            <a:ext cx="2819329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4269168"/>
            <a:ext cx="5638659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800" kern="100" spc="-98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SENSE. MOVE. CLEAN.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1182" y="4779963"/>
            <a:ext cx="563865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An autonomous compact crawler engineered for hazardous pipe inspection, obstacle detection, and active rotary surface scrubbing.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pic>
        <p:nvPicPr>
          <p:cNvPr id="8" name="velariomusic-relax-582875.mp3">
            <a:hlinkClick r:id="" action="ppaction://media"/>
            <a:extLst>
              <a:ext uri="{FF2B5EF4-FFF2-40B4-BE49-F238E27FC236}">
                <a16:creationId xmlns:a16="http://schemas.microsoft.com/office/drawing/2014/main" id="{EBBD49C2-0628-D605-700A-46FB071E84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192000" y="3705126"/>
            <a:ext cx="298605" cy="298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09905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OPERATIONAL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808526"/>
            <a:ext cx="10769331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MAKING CLEANING SMARTER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1182" y="1573907"/>
            <a:ext cx="355382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923256"/>
            <a:ext cx="11378915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An integrated prototype exploring automated, water-assisted sewage inspection and cleaning.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995216"/>
            <a:ext cx="2463738" cy="26384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01677" y="3211116"/>
            <a:ext cx="492113" cy="431800"/>
          </a:xfrm>
          <a:prstGeom prst="rect">
            <a:avLst/>
          </a:prstGeom>
          <a:solidFill>
            <a:srgbClr val="FFD08A"/>
          </a:solidFill>
          <a:ln/>
        </p:spPr>
      </p:sp>
      <p:sp>
        <p:nvSpPr>
          <p:cNvPr id="8" name="Text 5"/>
          <p:cNvSpPr/>
          <p:nvPr/>
        </p:nvSpPr>
        <p:spPr>
          <a:xfrm>
            <a:off x="901677" y="3211116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BF3F0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01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901677" y="3729831"/>
            <a:ext cx="2082748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0" name="Text 7"/>
          <p:cNvSpPr/>
          <p:nvPr/>
        </p:nvSpPr>
        <p:spPr>
          <a:xfrm>
            <a:off x="901677" y="3844242"/>
            <a:ext cx="208274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MOVEMENT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01677" y="4316313"/>
            <a:ext cx="20827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Tracked chassis navigates uneven pipe terrain.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13" y="2995216"/>
            <a:ext cx="2463738" cy="26384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70208" y="3211116"/>
            <a:ext cx="492113" cy="431800"/>
          </a:xfrm>
          <a:prstGeom prst="rect">
            <a:avLst/>
          </a:prstGeom>
          <a:solidFill>
            <a:srgbClr val="FFD08A"/>
          </a:solidFill>
          <a:ln/>
        </p:spPr>
      </p:sp>
      <p:sp>
        <p:nvSpPr>
          <p:cNvPr id="14" name="Text 10"/>
          <p:cNvSpPr/>
          <p:nvPr/>
        </p:nvSpPr>
        <p:spPr>
          <a:xfrm>
            <a:off x="3670208" y="3211116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BF3F0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02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3670208" y="3729831"/>
            <a:ext cx="2082748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16" name="Text 12"/>
          <p:cNvSpPr/>
          <p:nvPr/>
        </p:nvSpPr>
        <p:spPr>
          <a:xfrm>
            <a:off x="3670208" y="3844242"/>
            <a:ext cx="2082748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DISTANCE SENSING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670208" y="4644430"/>
            <a:ext cx="20827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Ultrasonic pings detect forward obstacles continuously.</a:t>
            </a:r>
            <a:endParaRPr lang="en-US" sz="14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2995216"/>
            <a:ext cx="2463738" cy="263842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38739" y="3211116"/>
            <a:ext cx="492113" cy="431800"/>
          </a:xfrm>
          <a:prstGeom prst="rect">
            <a:avLst/>
          </a:prstGeom>
          <a:solidFill>
            <a:srgbClr val="FFD08A"/>
          </a:solidFill>
          <a:ln/>
        </p:spPr>
      </p:sp>
      <p:sp>
        <p:nvSpPr>
          <p:cNvPr id="20" name="Text 15"/>
          <p:cNvSpPr/>
          <p:nvPr/>
        </p:nvSpPr>
        <p:spPr>
          <a:xfrm>
            <a:off x="6438739" y="3211116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BF3F0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03</a:t>
            </a:r>
            <a:endParaRPr lang="en-US" sz="3400" dirty="0"/>
          </a:p>
        </p:txBody>
      </p:sp>
      <p:sp>
        <p:nvSpPr>
          <p:cNvPr id="21" name="Shape 16"/>
          <p:cNvSpPr/>
          <p:nvPr/>
        </p:nvSpPr>
        <p:spPr>
          <a:xfrm>
            <a:off x="6438739" y="3729831"/>
            <a:ext cx="2082748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22" name="Text 17"/>
          <p:cNvSpPr/>
          <p:nvPr/>
        </p:nvSpPr>
        <p:spPr>
          <a:xfrm>
            <a:off x="6438739" y="3844242"/>
            <a:ext cx="2082748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WATER DELIVERY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6438739" y="4644430"/>
            <a:ext cx="20827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Submersible pump directs pressurized flow to deposits.</a:t>
            </a:r>
            <a:endParaRPr lang="en-US" sz="14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774" y="2995216"/>
            <a:ext cx="2463738" cy="263842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207270" y="3211116"/>
            <a:ext cx="492113" cy="431800"/>
          </a:xfrm>
          <a:prstGeom prst="rect">
            <a:avLst/>
          </a:prstGeom>
          <a:solidFill>
            <a:srgbClr val="FFD08A"/>
          </a:solidFill>
          <a:ln/>
        </p:spPr>
      </p:sp>
      <p:sp>
        <p:nvSpPr>
          <p:cNvPr id="26" name="Text 20"/>
          <p:cNvSpPr/>
          <p:nvPr/>
        </p:nvSpPr>
        <p:spPr>
          <a:xfrm>
            <a:off x="9207270" y="3211116"/>
            <a:ext cx="1101697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FBF3F0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04</a:t>
            </a:r>
            <a:endParaRPr lang="en-US" sz="3400" dirty="0"/>
          </a:p>
        </p:txBody>
      </p:sp>
      <p:sp>
        <p:nvSpPr>
          <p:cNvPr id="27" name="Shape 21"/>
          <p:cNvSpPr/>
          <p:nvPr/>
        </p:nvSpPr>
        <p:spPr>
          <a:xfrm>
            <a:off x="9207270" y="3729831"/>
            <a:ext cx="2082748" cy="19050"/>
          </a:xfrm>
          <a:prstGeom prst="rect">
            <a:avLst/>
          </a:prstGeom>
          <a:solidFill>
            <a:srgbClr val="FF5A7A"/>
          </a:solidFill>
          <a:ln/>
        </p:spPr>
      </p:sp>
      <p:sp>
        <p:nvSpPr>
          <p:cNvPr id="28" name="Text 22"/>
          <p:cNvSpPr/>
          <p:nvPr/>
        </p:nvSpPr>
        <p:spPr>
          <a:xfrm>
            <a:off x="9207270" y="3844242"/>
            <a:ext cx="208274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ROTATING MOP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9207270" y="4316313"/>
            <a:ext cx="208274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Front-mounted head scrubs internal pipe walls.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9105"/>
            <a:ext cx="665463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HARDWARE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57726"/>
            <a:ext cx="61974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SIX KEY COMPONENTS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383" y="1523107"/>
            <a:ext cx="2045145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894396"/>
            <a:ext cx="287012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Arduino Uno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60383" y="2366466"/>
            <a:ext cx="287012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Central microcontroller running logic loops and threshold arbitration.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987700" y="2023281"/>
            <a:ext cx="287012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L298N Motor Driver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987700" y="2495352"/>
            <a:ext cx="28701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High-current dual H-bridge driving tracked gear motors.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0383" y="3646996"/>
            <a:ext cx="287012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HC-SR04 Ultrasonic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0383" y="4119066"/>
            <a:ext cx="28701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Front sonar measuring target proximity and blockage distance.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987700" y="3646996"/>
            <a:ext cx="287012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YF-S201 Flow Sensor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87700" y="4119066"/>
            <a:ext cx="28701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Hall-effect rotor detecting line pressure and water-flow pulses.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0383" y="5141825"/>
            <a:ext cx="287012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MQ-135 Gas Sensor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0383" y="5613896"/>
            <a:ext cx="287012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Air-quality sensing element providing raw analog conduit readings.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987700" y="5270710"/>
            <a:ext cx="2870128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Relay &amp; Water Pump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987700" y="5742781"/>
            <a:ext cx="287012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Switched high-load relay actuating 12V water delivery on demand.</a:t>
            </a:r>
            <a:endParaRPr lang="en-US" sz="14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752756" y="1872456"/>
            <a:ext cx="12700" cy="1509415"/>
          </a:xfrm>
          <a:prstGeom prst="rect">
            <a:avLst/>
          </a:prstGeom>
          <a:solidFill>
            <a:srgbClr val="3D2A31"/>
          </a:solidFill>
          <a:ln/>
        </p:spPr>
      </p:sp>
      <p:sp>
        <p:nvSpPr>
          <p:cNvPr id="19" name="Shape 16"/>
          <p:cNvSpPr/>
          <p:nvPr/>
        </p:nvSpPr>
        <p:spPr>
          <a:xfrm>
            <a:off x="660383" y="3375521"/>
            <a:ext cx="3098722" cy="12700"/>
          </a:xfrm>
          <a:prstGeom prst="rect">
            <a:avLst/>
          </a:prstGeom>
          <a:solidFill>
            <a:srgbClr val="3D2A31"/>
          </a:solidFill>
          <a:ln/>
        </p:spPr>
      </p:sp>
      <p:sp>
        <p:nvSpPr>
          <p:cNvPr id="20" name="Shape 17"/>
          <p:cNvSpPr/>
          <p:nvPr/>
        </p:nvSpPr>
        <p:spPr>
          <a:xfrm>
            <a:off x="3752756" y="3381871"/>
            <a:ext cx="12700" cy="1509415"/>
          </a:xfrm>
          <a:prstGeom prst="rect">
            <a:avLst/>
          </a:prstGeom>
          <a:solidFill>
            <a:srgbClr val="3D2A31"/>
          </a:solidFill>
          <a:ln/>
        </p:spPr>
      </p:sp>
      <p:sp>
        <p:nvSpPr>
          <p:cNvPr id="21" name="Shape 18"/>
          <p:cNvSpPr/>
          <p:nvPr/>
        </p:nvSpPr>
        <p:spPr>
          <a:xfrm>
            <a:off x="3759106" y="3375521"/>
            <a:ext cx="3098722" cy="12700"/>
          </a:xfrm>
          <a:prstGeom prst="rect">
            <a:avLst/>
          </a:prstGeom>
          <a:solidFill>
            <a:srgbClr val="3D2A31"/>
          </a:solidFill>
          <a:ln/>
        </p:spPr>
      </p:sp>
      <p:sp>
        <p:nvSpPr>
          <p:cNvPr id="22" name="Shape 19"/>
          <p:cNvSpPr/>
          <p:nvPr/>
        </p:nvSpPr>
        <p:spPr>
          <a:xfrm>
            <a:off x="660383" y="4884936"/>
            <a:ext cx="3098722" cy="12700"/>
          </a:xfrm>
          <a:prstGeom prst="rect">
            <a:avLst/>
          </a:prstGeom>
          <a:solidFill>
            <a:srgbClr val="3D2A31"/>
          </a:solidFill>
          <a:ln/>
        </p:spPr>
      </p:sp>
      <p:sp>
        <p:nvSpPr>
          <p:cNvPr id="23" name="Shape 20"/>
          <p:cNvSpPr/>
          <p:nvPr/>
        </p:nvSpPr>
        <p:spPr>
          <a:xfrm>
            <a:off x="3752756" y="4891286"/>
            <a:ext cx="12700" cy="1509415"/>
          </a:xfrm>
          <a:prstGeom prst="rect">
            <a:avLst/>
          </a:prstGeom>
          <a:solidFill>
            <a:srgbClr val="3D2A31"/>
          </a:solidFill>
          <a:ln/>
        </p:spPr>
      </p:sp>
      <p:sp>
        <p:nvSpPr>
          <p:cNvPr id="24" name="Shape 21"/>
          <p:cNvSpPr/>
          <p:nvPr/>
        </p:nvSpPr>
        <p:spPr>
          <a:xfrm>
            <a:off x="3759106" y="4884936"/>
            <a:ext cx="3098722" cy="12700"/>
          </a:xfrm>
          <a:prstGeom prst="rect">
            <a:avLst/>
          </a:prstGeom>
          <a:solidFill>
            <a:srgbClr val="3D2A31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10000">
        <p159:morph option="byObject"/>
      </p:transition>
    </mc:Choice>
    <mc:Fallback>
      <p:transition spd="slow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9105"/>
            <a:ext cx="114805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57726"/>
            <a:ext cx="1087092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HOW THE SYSTEM THINKS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383" y="1523107"/>
            <a:ext cx="358726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872456"/>
            <a:ext cx="1148051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Distinct control channels separate autonomous obstacle triggers from passive environmental telemetry.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2499420"/>
            <a:ext cx="10870928" cy="35321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9105"/>
            <a:ext cx="114805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DECISION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57726"/>
            <a:ext cx="1087092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15 CM THRESHOLD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383" y="1523107"/>
            <a:ext cx="358726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1872456"/>
            <a:ext cx="1148051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Ultrasonic distance dictates system actuation. Any ambiguous reading immediately triggers an automated safety stop.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2584946"/>
            <a:ext cx="5283068" cy="3361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7077" y="2878951"/>
            <a:ext cx="501637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TARGET IN RANGE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27077" y="3211544"/>
            <a:ext cx="4749681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kern="100" spc="-15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≤ 15</a:t>
            </a:r>
            <a:r>
              <a:rPr lang="en-US" sz="2200" kern="100" spc="-15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 cm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27077" y="3811738"/>
            <a:ext cx="474968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STATE A: ACTIVE CLEANING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927077" y="4425057"/>
            <a:ext cx="1567220" cy="31651"/>
          </a:xfrm>
          <a:prstGeom prst="roundRect">
            <a:avLst>
              <a:gd name="adj" fmla="val 49998"/>
            </a:avLst>
          </a:prstGeom>
          <a:solidFill>
            <a:srgbClr val="FF8761"/>
          </a:solidFill>
          <a:ln/>
        </p:spPr>
      </p:sp>
      <p:sp>
        <p:nvSpPr>
          <p:cNvPr id="11" name="Text 8"/>
          <p:cNvSpPr/>
          <p:nvPr/>
        </p:nvSpPr>
        <p:spPr>
          <a:xfrm>
            <a:off x="927077" y="4633020"/>
            <a:ext cx="4749681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Forward Movement:</a:t>
            </a: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Commanded</a:t>
            </a: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Water Pump:</a:t>
            </a: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Switched ON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Mop Head:</a:t>
            </a: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Active rotary scrub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584946"/>
            <a:ext cx="5283068" cy="33611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4937" y="2878951"/>
            <a:ext cx="501637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TARGET CLEARED / OUT OF RANGE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514937" y="3211544"/>
            <a:ext cx="4749681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kern="100" spc="-154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 &gt; 15</a:t>
            </a:r>
            <a:r>
              <a:rPr lang="en-US" sz="2200" kern="100" spc="-154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 cm</a:t>
            </a:r>
            <a:endParaRPr lang="en-US" sz="4400" dirty="0"/>
          </a:p>
        </p:txBody>
      </p:sp>
      <p:sp>
        <p:nvSpPr>
          <p:cNvPr id="15" name="Text 11"/>
          <p:cNvSpPr/>
          <p:nvPr/>
        </p:nvSpPr>
        <p:spPr>
          <a:xfrm>
            <a:off x="6514937" y="3811738"/>
            <a:ext cx="4749681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STATE B: SAFE STANDBY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514937" y="4425057"/>
            <a:ext cx="1567220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17" name="Text 13"/>
          <p:cNvSpPr/>
          <p:nvPr/>
        </p:nvSpPr>
        <p:spPr>
          <a:xfrm>
            <a:off x="6514937" y="4633020"/>
            <a:ext cx="4749681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Chassis Motors:</a:t>
            </a: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Commanded STOP</a:t>
            </a:r>
            <a:endParaRPr lang="en-US" sz="1450" dirty="0"/>
          </a:p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45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Water Pump:</a:t>
            </a: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Switched OFF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Fail-Safe:</a:t>
            </a: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Invalid distance readings default directly to OFF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921762"/>
            <a:ext cx="624824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SCRUBBING MECHANISM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1220383"/>
            <a:ext cx="574025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WATER + ROTATING MOP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383" y="1985764"/>
            <a:ext cx="1894237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2335113"/>
            <a:ext cx="574025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pump supplies water while the rotating front mop helps wipe and clean.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3130054"/>
            <a:ext cx="5740256" cy="5313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3240099"/>
            <a:ext cx="543546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Pump</a:t>
            </a:r>
            <a:endParaRPr lang="en-US" sz="1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3813770"/>
            <a:ext cx="5740256" cy="9859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2780" y="3923816"/>
            <a:ext cx="543546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Water tubing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12780" y="4395887"/>
            <a:ext cx="558786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Water delivery →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4952107"/>
            <a:ext cx="5740256" cy="9859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780" y="5062153"/>
            <a:ext cx="543546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Front rotating mop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12780" y="5534223"/>
            <a:ext cx="558786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Mop rotation ↻</a:t>
            </a:r>
            <a:endParaRPr lang="en-US" sz="1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9105"/>
            <a:ext cx="1148051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DIAGNOSTICS &amp; TELEMETRY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757726"/>
            <a:ext cx="1087092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REAL-TIME OBSERVATION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0383" y="1523107"/>
            <a:ext cx="3587263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383" y="2672060"/>
          <a:ext cx="6691939" cy="2425045"/>
        </p:xfrm>
        <a:graphic>
          <a:graphicData uri="http://schemas.openxmlformats.org/drawingml/2006/table">
            <a:tbl>
              <a:tblPr/>
              <a:tblGrid>
                <a:gridCol w="6691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BF3F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SERIAL MONITOR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Distance (cm)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Flow rate (L/min)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MQ-135 raw reading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E6D9D8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Mode / relay status</a:t>
                      </a:r>
                      <a:endParaRPr lang="en-US" sz="17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2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0A0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0383" y="5221149"/>
            <a:ext cx="669193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Illustrative interface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57015" y="2443460"/>
            <a:ext cx="3874197" cy="3195935"/>
          </a:xfrm>
          <a:prstGeom prst="roundRect">
            <a:avLst>
              <a:gd name="adj" fmla="val 358"/>
            </a:avLst>
          </a:prstGeom>
          <a:noFill/>
          <a:ln w="6350">
            <a:solidFill>
              <a:srgbClr val="3D2A31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7866560" y="2661456"/>
            <a:ext cx="345510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COMMAND FLAGS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866560" y="3185914"/>
            <a:ext cx="1140094" cy="31651"/>
          </a:xfrm>
          <a:prstGeom prst="roundRect">
            <a:avLst>
              <a:gd name="adj" fmla="val 49998"/>
            </a:avLst>
          </a:prstGeom>
          <a:solidFill>
            <a:srgbClr val="FF8761"/>
          </a:solidFill>
          <a:ln/>
        </p:spPr>
      </p:sp>
      <p:sp>
        <p:nvSpPr>
          <p:cNvPr id="10" name="Text 7"/>
          <p:cNvSpPr/>
          <p:nvPr/>
        </p:nvSpPr>
        <p:spPr>
          <a:xfrm>
            <a:off x="7866560" y="3393877"/>
            <a:ext cx="3455107" cy="1580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F</a:t>
            </a: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= Forward</a:t>
            </a:r>
            <a:endParaRPr lang="en-US" sz="1700" dirty="0"/>
          </a:p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B</a:t>
            </a: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= Backward</a:t>
            </a:r>
            <a:endParaRPr lang="en-US" sz="1700" dirty="0"/>
          </a:p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S</a:t>
            </a: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= Stop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E6D9D8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A</a:t>
            </a: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= Automatic mode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693287"/>
            <a:ext cx="660383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PROJECT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1993088"/>
            <a:ext cx="5994250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600" kern="100" spc="-90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FROM IDEA TO WORKING PROTOTYPE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1182" y="3268762"/>
            <a:ext cx="2997125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3825946"/>
            <a:ext cx="5994250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400" kern="100" spc="-84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SENSE. MOVE. CLEAN.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1182" y="4259957"/>
            <a:ext cx="599425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Combining electronics, programming, and mechanical design to explore smarter sewage inspection and cleaning through automation.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7000">
        <p159:morph option="byObject"/>
      </p:transition>
    </mc:Choice>
    <mc:Fallback>
      <p:transition spd="slow" advTm="7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382</Words>
  <Application>Microsoft Macintosh PowerPoint</Application>
  <PresentationFormat>Widescreen</PresentationFormat>
  <Paragraphs>84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Heebo Medium</vt:lpstr>
      <vt:lpstr>Arial</vt:lpstr>
      <vt:lpstr>Heebo Light</vt:lpstr>
      <vt:lpstr>Heebo</vt:lpstr>
      <vt:lpstr>Heebo Bold</vt:lpstr>
      <vt:lpstr>Heebo SemiBold</vt:lpstr>
      <vt:lpstr>Montserrat SemiBold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Vikrant Singh Bais</cp:lastModifiedBy>
  <cp:revision>2</cp:revision>
  <dcterms:created xsi:type="dcterms:W3CDTF">2026-10-23T15:29:37Z</dcterms:created>
  <dcterms:modified xsi:type="dcterms:W3CDTF">2026-10-23T15:44:04Z</dcterms:modified>
</cp:coreProperties>
</file>